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66" d="100"/>
          <a:sy n="66" d="100"/>
        </p:scale>
        <p:origin x="687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CC4B6-CAB9-ABB3-04EE-C7C2C6DB9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1441C7-7D48-0742-78BB-9DDC8C16F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FA1AE-A705-5A4C-807F-B943E0F2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17430E-87BF-1F9D-16FA-B7ECA358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834E7-6A18-F1F4-56FA-9E92B607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86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F11A9-4334-933E-4670-48AC7693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69EE7A-8A0A-E52E-F556-715CC4A6A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AFC6C3-BA93-A198-521A-F071C36F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24FCA-E3E5-A674-4D69-99EFF532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DD72BF-D138-ECD7-F230-463DDA08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23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D2F53-5F99-7574-3181-F57CAACD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93FDEA-B306-A5FF-C1CB-D3382925B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877799-6EA5-8314-C905-D89A30E7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B3F3F-D7B4-F05A-42B5-400B21CD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39430C-B1DB-FD3D-0141-AF1C79BC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33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6A2A3-322B-26E5-5DE4-0ECD9AAB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F9EFFE-DEED-FB99-2E8F-99DE0B685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957ACA-794B-2AF5-26BF-D5C657D94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399D0E-1478-E0E4-4BE7-9D3A9D7D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B2272A-C308-83C2-0D17-39374F97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0B4EAE-BE0D-02CC-A4DA-E775B603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99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88ABD-2BFD-56B0-7070-072EA152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975B42-6AFB-6609-1C61-4298F50CF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91C7B5-73A2-2302-1D23-D62CD098C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4294E5-196D-162F-D8F0-3886C477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94CEB2-180C-FB60-D4E4-98076C527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5F0398-0D62-E5FF-9D01-F9417972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72C226-ECD7-C844-3830-CE25E5DC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C50091-7259-C7F7-5B47-E331F42B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8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2F266-12F5-EB6A-C9FE-6E72884E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5AB07D-1B53-BDC1-3822-D800C21E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F6ECAC-9B8B-504E-238C-D25476AB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161FB1-36CE-FFCD-9B22-C06540C3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91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3500C4-490A-908E-A378-B6C4D6B4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1A276A-D045-067B-A176-1C9B46A6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F47EF6-4A50-74D1-6B09-C3C07436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79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F8B45-AF7D-6E95-0B60-A4FB426B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C86E6E-EE3E-6BA2-D3D2-0CA04FE67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9CB12C-4BB0-DAF8-AE42-5C2C48D28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C47C81-708A-62F0-1205-7EE3E769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E7918D-75C4-20A7-047D-6BF5F45A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C5E493-CEE1-28D4-C85A-B3E3B186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9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0A031-5BA8-28AC-9780-70402F88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D8EF59-F6CD-48EE-581F-2975E6BCF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07A36D-3E88-C9AE-3AC9-B2D0059BA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DA7AD5-FC43-5EA6-0FCB-5AA439C1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B2763B-1096-1E0F-3313-49FDB2E6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A8F62E-B742-21B7-BECA-0212A3A4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51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448D9-608A-DC98-8E0C-61B57C97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284079-152F-A63A-437C-4917D1B55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ACE6D4-C2FC-3234-5CA0-6F140E09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ADA38E-A4FC-9955-413F-8A847193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F0526A-034F-2027-70A2-7A4AE7B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78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A9CC84-6F43-B6B2-8200-9842F02FC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AF1EDA-38D4-59C9-2F28-390E26F5D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EE3D20-1996-AB76-0C5E-21FFC22E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0F1ED-1FFF-3880-734D-5FA85855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2E417A-23CC-8F1B-9A40-51E0BCDF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47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4DB19A-EDF2-E382-6BCE-3C149D91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8D3C84-FB7F-E141-EF3C-FEFE0A475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B2617E-8E8E-A4FB-8EC4-FE3905FBD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DB7D-9F22-4DE1-B0DE-2497901941FE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26386B-96BE-84B8-8D18-301C050AD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02A15A-8053-9FCE-55FA-8ECB9DFA5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8276A-7B32-45D5-A3CF-A820F74FCE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61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C3DFC-E0F5-CB05-BD99-F3B280113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868" y="1010768"/>
            <a:ext cx="6128479" cy="2387600"/>
          </a:xfrm>
        </p:spPr>
        <p:txBody>
          <a:bodyPr anchor="ctr"/>
          <a:lstStyle/>
          <a:p>
            <a:pPr algn="l"/>
            <a:r>
              <a:rPr lang="pt-BR" dirty="0"/>
              <a:t>Trabalho final</a:t>
            </a:r>
            <a:br>
              <a:rPr lang="pt-BR" dirty="0"/>
            </a:br>
            <a:r>
              <a:rPr lang="pt-BR" sz="2800" dirty="0" err="1"/>
              <a:t>Turbofan</a:t>
            </a:r>
            <a:r>
              <a:rPr lang="pt-BR" sz="2800" dirty="0"/>
              <a:t> </a:t>
            </a:r>
            <a:r>
              <a:rPr lang="pt-BR" sz="2800" dirty="0" err="1"/>
              <a:t>rul</a:t>
            </a:r>
            <a:r>
              <a:rPr lang="pt-BR" sz="2800" dirty="0"/>
              <a:t> </a:t>
            </a:r>
            <a:r>
              <a:rPr lang="pt-BR" sz="2800" dirty="0" err="1"/>
              <a:t>predictions</a:t>
            </a:r>
            <a:endParaRPr lang="pt-BR" sz="2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42C2E0-78C9-E32E-F2FD-BA7A68B04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868" y="4191470"/>
            <a:ext cx="6128478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dirty="0"/>
              <a:t>PPGEEL – UFSC </a:t>
            </a:r>
          </a:p>
          <a:p>
            <a:pPr algn="l"/>
            <a:r>
              <a:rPr lang="pt-BR" dirty="0"/>
              <a:t>Disciplina: Aprendizado de Máquina</a:t>
            </a:r>
          </a:p>
          <a:p>
            <a:pPr algn="l"/>
            <a:r>
              <a:rPr lang="pt-BR" dirty="0"/>
              <a:t>Aluno: Davi Grumiche Seemann</a:t>
            </a:r>
          </a:p>
          <a:p>
            <a:pPr algn="l"/>
            <a:r>
              <a:rPr lang="pt-BR" dirty="0"/>
              <a:t>Prof. Danilo Silva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E17E13F-2643-F993-F5CF-C9D707491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9153" y="1957668"/>
            <a:ext cx="2987024" cy="294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5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E3FA9-1308-7DF4-D51A-79E53E4A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38DB7-E2B6-CA81-26DC-0B428F405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1350" cy="4351338"/>
          </a:xfrm>
        </p:spPr>
        <p:txBody>
          <a:bodyPr/>
          <a:lstStyle/>
          <a:p>
            <a:pPr marL="0" indent="0">
              <a:buNone/>
            </a:pPr>
            <a:endParaRPr lang="pt-BR" sz="2400" dirty="0"/>
          </a:p>
          <a:p>
            <a:pPr marL="457200" indent="-457200" algn="just">
              <a:buAutoNum type="arabicPeriod"/>
            </a:pPr>
            <a:r>
              <a:rPr lang="pt-BR" sz="2400" dirty="0"/>
              <a:t>Falhas inesperadas em turbinas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 custos e riscos elevados </a:t>
            </a:r>
          </a:p>
          <a:p>
            <a:pPr marL="457200" indent="-457200" algn="just">
              <a:buAutoNum type="arabicPeriod"/>
            </a:pPr>
            <a:r>
              <a:rPr lang="pt-BR" sz="2400" dirty="0"/>
              <a:t> Manutenção preditiva reduz custos de manutenção e do tempo de inatividade.</a:t>
            </a:r>
          </a:p>
          <a:p>
            <a:pPr marL="457200" indent="-457200" algn="just">
              <a:buAutoNum type="arabicPeriod"/>
            </a:pPr>
            <a:r>
              <a:rPr lang="pt-BR" sz="2400" dirty="0"/>
              <a:t> RUL fornece horizonte de manutenção: decide-se “voar mais um ciclo” ou “trocar já”.</a:t>
            </a:r>
          </a:p>
          <a:p>
            <a:pPr marL="457200" indent="-457200" algn="just">
              <a:buAutoNum type="arabicPeriod"/>
            </a:pPr>
            <a:r>
              <a:rPr lang="pt-BR" sz="2400" dirty="0"/>
              <a:t> </a:t>
            </a:r>
            <a:r>
              <a:rPr lang="pt-BR" sz="2400" dirty="0" err="1"/>
              <a:t>Dataset</a:t>
            </a:r>
            <a:r>
              <a:rPr lang="pt-BR" sz="2400" dirty="0"/>
              <a:t> NASA C-MAPSS tornou-se o padrão para benchmark de RUL.</a:t>
            </a:r>
          </a:p>
        </p:txBody>
      </p:sp>
    </p:spTree>
    <p:extLst>
      <p:ext uri="{BB962C8B-B14F-4D97-AF65-F5344CB8AC3E}">
        <p14:creationId xmlns:p14="http://schemas.microsoft.com/office/powerpoint/2010/main" val="4211665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CBF49-35E3-BDCF-7D45-7CF0FB4A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dataset</a:t>
            </a:r>
            <a:r>
              <a:rPr lang="pt-BR" dirty="0"/>
              <a:t> NASA C-MAPSS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B85DC7-FE4A-DB65-9A4E-F44087788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913" y="1825625"/>
            <a:ext cx="5431971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Cada trajetória é composta por N ciclos.</a:t>
            </a:r>
          </a:p>
          <a:p>
            <a:r>
              <a:rPr lang="pt-BR" dirty="0"/>
              <a:t>Cada ciclo: </a:t>
            </a:r>
          </a:p>
          <a:p>
            <a:pPr lvl="1"/>
            <a:r>
              <a:rPr lang="pt-BR" dirty="0"/>
              <a:t>21 sensores.</a:t>
            </a:r>
          </a:p>
          <a:p>
            <a:r>
              <a:rPr lang="pt-BR" dirty="0"/>
              <a:t>Trajetórias vão até a falha.</a:t>
            </a:r>
          </a:p>
          <a:p>
            <a:pPr lvl="1"/>
            <a:r>
              <a:rPr lang="pt-BR" dirty="0"/>
              <a:t>RUL=0</a:t>
            </a:r>
          </a:p>
          <a:p>
            <a:pPr lvl="1"/>
            <a:endParaRPr lang="pt-BR" dirty="0"/>
          </a:p>
          <a:p>
            <a:r>
              <a:rPr lang="pt-BR" dirty="0"/>
              <a:t>100 motores de treino + 100 motores de teste</a:t>
            </a:r>
          </a:p>
          <a:p>
            <a:endParaRPr lang="pt-BR" dirty="0"/>
          </a:p>
          <a:p>
            <a:r>
              <a:rPr lang="pt-BR" dirty="0"/>
              <a:t>Cada motor tem seu id.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EA8D4A-98E9-2E7E-5E80-70D4B67CF3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071"/>
          <a:stretch/>
        </p:blipFill>
        <p:spPr>
          <a:xfrm>
            <a:off x="6480627" y="2643211"/>
            <a:ext cx="4703085" cy="271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7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A1A05-B339-FA33-457A-A71EEB01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CA6DF-0DB4-809A-962A-1BB48EAEB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Seleção de 14 sensores</a:t>
            </a:r>
          </a:p>
          <a:p>
            <a:r>
              <a:rPr lang="pt-BR" dirty="0"/>
              <a:t>Normalização min-</a:t>
            </a:r>
            <a:r>
              <a:rPr lang="pt-BR" dirty="0" err="1"/>
              <a:t>max</a:t>
            </a:r>
            <a:r>
              <a:rPr lang="pt-BR" dirty="0"/>
              <a:t> [-1,1]</a:t>
            </a:r>
          </a:p>
          <a:p>
            <a:r>
              <a:rPr lang="pt-BR" dirty="0"/>
              <a:t>Janela deslizante (w=24)</a:t>
            </a:r>
          </a:p>
          <a:p>
            <a:r>
              <a:rPr lang="pt-BR" dirty="0"/>
              <a:t>Passo (</a:t>
            </a:r>
            <a:r>
              <a:rPr lang="pt-BR" dirty="0" err="1"/>
              <a:t>stride</a:t>
            </a:r>
            <a:r>
              <a:rPr lang="pt-BR" dirty="0"/>
              <a:t>) = 1</a:t>
            </a:r>
          </a:p>
          <a:p>
            <a:r>
              <a:rPr lang="pt-BR" dirty="0"/>
              <a:t>Limitação(Re) do RUL em 129</a:t>
            </a:r>
          </a:p>
          <a:p>
            <a:r>
              <a:rPr lang="pt-BR" dirty="0"/>
              <a:t>Vetores resultantes:</a:t>
            </a:r>
          </a:p>
          <a:p>
            <a:pPr lvl="1"/>
            <a:r>
              <a:rPr lang="pt-BR" dirty="0"/>
              <a:t> 14 x w  = 336</a:t>
            </a:r>
          </a:p>
          <a:p>
            <a:pPr lvl="1"/>
            <a:r>
              <a:rPr lang="pt-BR" dirty="0"/>
              <a:t>[Vetor]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[RUL do último ciclo]</a:t>
            </a:r>
          </a:p>
        </p:txBody>
      </p:sp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A11EFF40-BE31-0777-EBD5-53E12E05E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17213"/>
            <a:ext cx="5875305" cy="3672065"/>
          </a:xfrm>
          <a:prstGeom prst="rect">
            <a:avLst/>
          </a:prstGeom>
        </p:spPr>
      </p:pic>
      <p:pic>
        <p:nvPicPr>
          <p:cNvPr id="7" name="Imagem 6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E6B6C7BC-FEC1-FCF8-7890-FD0BE9DEF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771" y="4680857"/>
            <a:ext cx="5225143" cy="189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9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DFFB7D-200E-9C91-319B-18A992BC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pt-BR" sz="4000"/>
              <a:t>Modelo da MLP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D23B80-B2EF-C7AF-D033-55E40A7D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pt-BR" sz="2000" dirty="0"/>
              <a:t>Modelo importado 100%  a partir do artigo Base.</a:t>
            </a:r>
          </a:p>
          <a:p>
            <a:pPr marL="0" indent="0" algn="ctr">
              <a:buNone/>
            </a:pPr>
            <a:r>
              <a:rPr lang="pt-BR" sz="2000" dirty="0" err="1"/>
              <a:t>Lr</a:t>
            </a:r>
            <a:r>
              <a:rPr lang="pt-BR" sz="2000" dirty="0"/>
              <a:t> = 0.001, L1=0.1 e L2 = 0.2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574F073-E06D-3E6C-95A4-E10A0337E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15" y="2405149"/>
            <a:ext cx="9054272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5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99804-349F-FF0E-318C-0959C060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Experimental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230FE9-B60D-8F95-E148-2F42A6C08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5657"/>
            <a:ext cx="10515600" cy="3731306"/>
          </a:xfrm>
        </p:spPr>
        <p:txBody>
          <a:bodyPr/>
          <a:lstStyle/>
          <a:p>
            <a:r>
              <a:rPr lang="pt-BR" dirty="0"/>
              <a:t>Etapa 1 - </a:t>
            </a:r>
            <a:r>
              <a:rPr lang="pt-BR" dirty="0">
                <a:sym typeface="Wingdings" panose="05000000000000000000" pitchFamily="2" charset="2"/>
              </a:rPr>
              <a:t>Reprodução do artigo</a:t>
            </a:r>
          </a:p>
          <a:p>
            <a:r>
              <a:rPr lang="pt-BR" dirty="0">
                <a:sym typeface="Wingdings" panose="05000000000000000000" pitchFamily="2" charset="2"/>
              </a:rPr>
              <a:t>Etapa 2 - Explorar LR e Regularização.</a:t>
            </a:r>
          </a:p>
          <a:p>
            <a:r>
              <a:rPr lang="pt-BR" dirty="0">
                <a:sym typeface="Wingdings" panose="05000000000000000000" pitchFamily="2" charset="2"/>
              </a:rPr>
              <a:t>Etapa 3 - Compara com e sem limitação do RUL (clipping)</a:t>
            </a:r>
          </a:p>
          <a:p>
            <a:r>
              <a:rPr lang="pt-BR" dirty="0">
                <a:sym typeface="Wingdings" panose="05000000000000000000" pitchFamily="2" charset="2"/>
              </a:rPr>
              <a:t>Etapa 4 - Comparar valores diferentes de janela.</a:t>
            </a:r>
          </a:p>
          <a:p>
            <a:endParaRPr lang="pt-BR" u="sng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85944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A81DA-4622-2492-E454-23EFF9BD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pt-BR" sz="4000" dirty="0"/>
              <a:t>Modelo base – Artigo Laredo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81DB1F-96F8-0B3A-E146-20172ABB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pt-BR" sz="2000" dirty="0"/>
              <a:t>w = 24, </a:t>
            </a:r>
            <a:r>
              <a:rPr lang="pt-BR" sz="2000" dirty="0" err="1"/>
              <a:t>Lr</a:t>
            </a:r>
            <a:r>
              <a:rPr lang="pt-BR" sz="2000" dirty="0"/>
              <a:t> = 10e-3, limite RUL = 129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A98857-1534-3CA8-6146-2ADDB302F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1" y="2017354"/>
            <a:ext cx="10515595" cy="3627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28DD90A-E501-B81C-FD3E-9D3519D278CC}"/>
              </a:ext>
            </a:extLst>
          </p:cNvPr>
          <p:cNvSpPr txBox="1"/>
          <p:nvPr/>
        </p:nvSpPr>
        <p:spPr>
          <a:xfrm>
            <a:off x="3185886" y="608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/>
              <a:t>Resultados no teste: RMSE = 14.75 | RHS = 4.06 </a:t>
            </a:r>
          </a:p>
        </p:txBody>
      </p:sp>
    </p:spTree>
    <p:extLst>
      <p:ext uri="{BB962C8B-B14F-4D97-AF65-F5344CB8AC3E}">
        <p14:creationId xmlns:p14="http://schemas.microsoft.com/office/powerpoint/2010/main" val="214318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8A81DA-4622-2492-E454-23EFF9BD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pt-BR" sz="4000"/>
              <a:t>Modelo base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72A2B25-C784-9ABB-67A4-6C775590F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8602" y="4318001"/>
            <a:ext cx="8435708" cy="2227942"/>
          </a:xfr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14A8BAC-CBDD-E995-5322-83C450CD3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186" y="1288823"/>
            <a:ext cx="3599558" cy="302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0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53B393-B8ED-4DA4-985A-E9E51BAD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661" y="420236"/>
            <a:ext cx="6163624" cy="13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Taxa de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aprendizado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2708DD03-E9DC-7BFE-181F-C4012119F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414" y="1845426"/>
            <a:ext cx="10172119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E81FE-F537-3C76-E6DB-4861759F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 e sem Limitação do RUL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884F17B-7B07-014E-BD0C-F09B6BDE4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130241"/>
            <a:ext cx="6641454" cy="2440461"/>
          </a:xfr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4DCD76F-33E9-A38E-94B8-EB69E7884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01" y="2151248"/>
            <a:ext cx="3625577" cy="280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811EBBE-DE3B-3F61-5375-C9351E475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14" y="1498222"/>
            <a:ext cx="3163740" cy="2632019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76E5DFB-2ACD-210E-10D1-C26DDCA79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29" y="1467821"/>
            <a:ext cx="3163740" cy="266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95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2EDC4-74DB-3F98-E8CB-260636BC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os tamanhos de janela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701A9E-CF87-4F99-4498-969025FD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169" y="1898780"/>
            <a:ext cx="6448831" cy="3376798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49484F8-C699-7B02-B9E3-5875F75A2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12" y="2304825"/>
            <a:ext cx="50673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75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2E810-108C-9ACC-C451-EFFC40E5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257" y="2766218"/>
            <a:ext cx="7351485" cy="1325563"/>
          </a:xfrm>
        </p:spPr>
        <p:txBody>
          <a:bodyPr>
            <a:noAutofit/>
          </a:bodyPr>
          <a:lstStyle/>
          <a:p>
            <a:pPr algn="ctr"/>
            <a:r>
              <a:rPr lang="pt-BR" sz="9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360521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Tema do Office</vt:lpstr>
      <vt:lpstr>Trabalho final Turbofan rul predictions</vt:lpstr>
      <vt:lpstr>Motivação</vt:lpstr>
      <vt:lpstr>O dataset NASA C-MAPSS</vt:lpstr>
      <vt:lpstr>Pré-processamento</vt:lpstr>
      <vt:lpstr>Modelo da MLP</vt:lpstr>
      <vt:lpstr>Plano Experimental</vt:lpstr>
      <vt:lpstr>Modelo base – Artigo Laredo</vt:lpstr>
      <vt:lpstr>Modelo base</vt:lpstr>
      <vt:lpstr>Taxa de aprendizado</vt:lpstr>
      <vt:lpstr>Com e sem Limitação do RUL</vt:lpstr>
      <vt:lpstr>Alterando os tamanhos de janela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Seemann</dc:creator>
  <cp:lastModifiedBy>Davi Seemann</cp:lastModifiedBy>
  <cp:revision>3</cp:revision>
  <dcterms:created xsi:type="dcterms:W3CDTF">2025-07-10T07:28:15Z</dcterms:created>
  <dcterms:modified xsi:type="dcterms:W3CDTF">2025-07-10T09:01:06Z</dcterms:modified>
</cp:coreProperties>
</file>